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E3B"/>
    <a:srgbClr val="727272"/>
    <a:srgbClr val="9BBB59"/>
    <a:srgbClr val="39B0D4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" dt="2026-09-05T06:25:05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09-05T06:25:03.029" v="4" actId="20577"/>
      <pc:docMkLst>
        <pc:docMk/>
      </pc:docMkLst>
      <pc:sldChg chg="modSp">
        <pc:chgData name="Guest User" userId="" providerId="Windows Live" clId="Web-{00000000-0000-0000-0000-000000000000}" dt="2026-09-05T06:25:03.029" v="4" actId="20577"/>
        <pc:sldMkLst>
          <pc:docMk/>
          <pc:sldMk cId="0" sldId="290"/>
        </pc:sldMkLst>
        <pc:spChg chg="mod">
          <ac:chgData name="Guest User" userId="" providerId="Windows Live" clId="Web-{00000000-0000-0000-0000-000000000000}" dt="2026-09-05T06:25:03.029" v="4" actId="20577"/>
          <ac:spMkLst>
            <pc:docMk/>
            <pc:sldMk cId="0" sldId="290"/>
            <ac:spMk id="3" creationId="{557469C2-BE81-FDF7-8E2E-70E5463E94C6}"/>
          </ac:spMkLst>
        </pc:spChg>
      </pc:sldChg>
      <pc:sldChg chg="modSp">
        <pc:chgData name="Guest User" userId="" providerId="Windows Live" clId="Web-{00000000-0000-0000-0000-000000000000}" dt="2026-09-05T06:24:50.904" v="1" actId="20577"/>
        <pc:sldMkLst>
          <pc:docMk/>
          <pc:sldMk cId="0" sldId="291"/>
        </pc:sldMkLst>
        <pc:spChg chg="mod">
          <ac:chgData name="Guest User" userId="" providerId="Windows Live" clId="Web-{00000000-0000-0000-0000-000000000000}" dt="2026-09-05T06:24:50.904" v="1" actId="20577"/>
          <ac:spMkLst>
            <pc:docMk/>
            <pc:sldMk cId="0" sldId="29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44899" y="111204"/>
            <a:ext cx="10965712" cy="124498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/>
                <a:ea typeface="ＭＳ Ｐゴシック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4899" y="1450460"/>
            <a:ext cx="11651056" cy="458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SIH26044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Portal for Academia- Industry Collaboration for Skill Mapping, Internships and Placements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Mindmesh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69A1C-E2B6-76B9-690C-6BD3F80D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538" y="76186"/>
            <a:ext cx="1810807" cy="1185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876AAB-A8C5-198D-BC53-995EEA650EA3}"/>
              </a:ext>
            </a:extLst>
          </p:cNvPr>
          <p:cNvSpPr/>
          <p:nvPr/>
        </p:nvSpPr>
        <p:spPr>
          <a:xfrm>
            <a:off x="2328530" y="432328"/>
            <a:ext cx="7756990" cy="1129915"/>
          </a:xfrm>
          <a:prstGeom prst="roundRect">
            <a:avLst/>
          </a:prstGeom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85181" y="1722776"/>
            <a:ext cx="12191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b="1" u="sng" dirty="0">
                <a:latin typeface="Arial" pitchFamily="34" charset="0"/>
                <a:cs typeface="Arial" pitchFamily="34" charset="0"/>
              </a:rPr>
              <a:t>Proposed Solution </a:t>
            </a:r>
            <a:endParaRPr lang="en-US" sz="28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6461" y="516114"/>
            <a:ext cx="1960940" cy="80733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7030A0"/>
                </a:solidFill>
                <a:latin typeface="Colonna MT" panose="04020805060202030203" pitchFamily="82" charset="0"/>
              </a:rPr>
              <a:t>Mindmesh</a:t>
            </a:r>
            <a:endParaRPr lang="en-IN" sz="2000" b="1" dirty="0">
              <a:solidFill>
                <a:srgbClr val="7030A0"/>
              </a:solidFill>
              <a:latin typeface="Colonna MT" panose="04020805060202030203" pitchFamily="82" charset="0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256A401-8C98-53DE-FF70-26B4E0EF4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07" y="2367678"/>
            <a:ext cx="5387600" cy="3098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3A2B07-BDA0-674F-FFE8-34CE9865C30A}"/>
              </a:ext>
            </a:extLst>
          </p:cNvPr>
          <p:cNvSpPr txBox="1"/>
          <p:nvPr/>
        </p:nvSpPr>
        <p:spPr>
          <a:xfrm>
            <a:off x="883271" y="2491876"/>
            <a:ext cx="4694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64E3B"/>
                </a:solidFill>
                <a:latin typeface="Poppins SemiBold"/>
              </a:rPr>
              <a:t>Our Solution &amp; Target Audience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9A855-F250-5D7E-4B49-A58D06EB99AA}"/>
              </a:ext>
            </a:extLst>
          </p:cNvPr>
          <p:cNvSpPr txBox="1"/>
          <p:nvPr/>
        </p:nvSpPr>
        <p:spPr>
          <a:xfrm>
            <a:off x="883271" y="2855974"/>
            <a:ext cx="4609707" cy="3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27"/>
              </a:lnSpc>
            </a:pPr>
            <a:r>
              <a:rPr lang="en-US" dirty="0">
                <a:solidFill>
                  <a:srgbClr val="0F766E"/>
                </a:solidFill>
                <a:latin typeface="DM Sans SemiBold"/>
              </a:rPr>
              <a:t>One Platform Connecting Three Stakeholders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E5BA7-EF55-BF70-B500-1FD56AF7855D}"/>
              </a:ext>
            </a:extLst>
          </p:cNvPr>
          <p:cNvSpPr txBox="1"/>
          <p:nvPr/>
        </p:nvSpPr>
        <p:spPr>
          <a:xfrm>
            <a:off x="737155" y="3165238"/>
            <a:ext cx="4901938" cy="1841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468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DM Sans"/>
              </a:rPr>
              <a:t>Students:</a:t>
            </a:r>
            <a:r>
              <a:rPr lang="en-IN" sz="1400" dirty="0">
                <a:latin typeface="DM Sans"/>
              </a:rPr>
              <a:t> </a:t>
            </a:r>
            <a:r>
              <a:rPr lang="en-IN" sz="1400" dirty="0">
                <a:solidFill>
                  <a:srgbClr val="334155"/>
                </a:solidFill>
                <a:latin typeface="DM Sans"/>
              </a:rPr>
              <a:t>Profiles, skills, resumes, opportunities, and applications.</a:t>
            </a:r>
          </a:p>
          <a:p>
            <a:pPr marL="171450" indent="-171450">
              <a:lnSpc>
                <a:spcPts val="1468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DM Sans"/>
            </a:endParaRPr>
          </a:p>
          <a:p>
            <a:pPr marL="171450" indent="-171450">
              <a:lnSpc>
                <a:spcPts val="1468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DM Sans"/>
              </a:rPr>
              <a:t>Companies / AYUSH Partners:</a:t>
            </a:r>
            <a:r>
              <a:rPr lang="en-US" sz="1400" dirty="0">
                <a:latin typeface="DM Sans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DM Sans"/>
              </a:rPr>
              <a:t>Post internships/jobs and find candidates</a:t>
            </a:r>
          </a:p>
          <a:p>
            <a:pPr marL="171450" indent="-171450">
              <a:lnSpc>
                <a:spcPts val="1468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34155"/>
              </a:solidFill>
              <a:latin typeface="DM Sans"/>
            </a:endParaRPr>
          </a:p>
          <a:p>
            <a:pPr marL="171450" indent="-171450">
              <a:lnSpc>
                <a:spcPts val="1468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DM Sans"/>
              </a:rPr>
              <a:t>Colleges / Admin:</a:t>
            </a:r>
            <a:r>
              <a:rPr lang="en-US" sz="1400" dirty="0">
                <a:latin typeface="DM Sans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DM Sans"/>
              </a:rPr>
              <a:t>Monitor applications, placements, and skill trends.</a:t>
            </a:r>
          </a:p>
          <a:p>
            <a:pPr marL="171450" indent="-171450">
              <a:lnSpc>
                <a:spcPts val="1468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rgbClr val="334155"/>
              </a:solidFill>
              <a:latin typeface="DM Sans"/>
            </a:endParaRP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2EE0F016-EE3F-3D25-2723-C5DDC1DF2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04" y="2538615"/>
            <a:ext cx="198388" cy="264517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6A92A092-FADD-8D04-2DEB-838AAB60A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30" y="4796878"/>
            <a:ext cx="4933950" cy="5741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D4CFA8-A1A1-B793-3E9F-E45791740017}"/>
              </a:ext>
            </a:extLst>
          </p:cNvPr>
          <p:cNvSpPr txBox="1"/>
          <p:nvPr/>
        </p:nvSpPr>
        <p:spPr>
          <a:xfrm>
            <a:off x="662724" y="4930881"/>
            <a:ext cx="4667250" cy="383678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 dirty="0">
                <a:solidFill>
                  <a:srgbClr val="047857"/>
                </a:solidFill>
                <a:latin typeface="DM Sans Medium" pitchFamily="2" charset="0"/>
              </a:rPr>
              <a:t>Skill-based matching connects student capabilities with industry requirements</a:t>
            </a:r>
            <a:r>
              <a:rPr sz="975" b="0" i="0" u="none" dirty="0">
                <a:solidFill>
                  <a:srgbClr val="047857"/>
                </a:solidFill>
                <a:latin typeface="DM Sans Medium" pitchFamily="2" charset="0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F9C0CC-E58D-3FFE-278B-CCD9CB88C55F}"/>
              </a:ext>
            </a:extLst>
          </p:cNvPr>
          <p:cNvSpPr txBox="1"/>
          <p:nvPr/>
        </p:nvSpPr>
        <p:spPr>
          <a:xfrm>
            <a:off x="2540382" y="432328"/>
            <a:ext cx="78374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OUR IDEA</a:t>
            </a:r>
          </a:p>
          <a:p>
            <a:r>
              <a:rPr lang="en-US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 unified platform connecting Students, Colleges and Industry </a:t>
            </a:r>
          </a:p>
          <a:p>
            <a:r>
              <a:rPr lang="en-US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through skill-based matching</a:t>
            </a:r>
            <a:r>
              <a:rPr lang="en-US" dirty="0"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  <a:endParaRPr lang="en-IN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0FFCD100-B675-007A-4CDC-073879BBD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195" y="2367678"/>
            <a:ext cx="6040807" cy="309800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F047731-5D1A-7068-0DA8-325A823FBDB9}"/>
              </a:ext>
            </a:extLst>
          </p:cNvPr>
          <p:cNvSpPr txBox="1"/>
          <p:nvPr/>
        </p:nvSpPr>
        <p:spPr>
          <a:xfrm>
            <a:off x="6730411" y="2426879"/>
            <a:ext cx="471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HOW IT WORKS 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94C1D5-72C6-1F85-1DC5-2B86EA940E62}"/>
              </a:ext>
            </a:extLst>
          </p:cNvPr>
          <p:cNvSpPr txBox="1"/>
          <p:nvPr/>
        </p:nvSpPr>
        <p:spPr>
          <a:xfrm>
            <a:off x="6066330" y="2792120"/>
            <a:ext cx="6398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DM Sans "/>
              </a:rPr>
              <a:t>Build Student Profile</a:t>
            </a:r>
            <a:br>
              <a:rPr lang="en-US" sz="1400" dirty="0">
                <a:solidFill>
                  <a:srgbClr val="727272"/>
                </a:solidFill>
                <a:latin typeface="DM Sans "/>
              </a:rPr>
            </a:br>
            <a:r>
              <a:rPr lang="en-US" sz="1400" dirty="0">
                <a:solidFill>
                  <a:srgbClr val="727272"/>
                </a:solidFill>
                <a:latin typeface="DM Sans "/>
              </a:rPr>
              <a:t>Students add their skills, projects, interests and academic details.</a:t>
            </a:r>
          </a:p>
          <a:p>
            <a:r>
              <a:rPr lang="en-US" sz="1400" b="1" dirty="0">
                <a:latin typeface="DM Sans "/>
              </a:rPr>
              <a:t>Skill Analysis</a:t>
            </a:r>
            <a:br>
              <a:rPr lang="en-US" sz="1400" dirty="0">
                <a:solidFill>
                  <a:srgbClr val="727272"/>
                </a:solidFill>
                <a:latin typeface="DM Sans "/>
              </a:rPr>
            </a:br>
            <a:r>
              <a:rPr lang="en-US" sz="1400" dirty="0">
                <a:solidFill>
                  <a:srgbClr val="727272"/>
                </a:solidFill>
                <a:latin typeface="DM Sans "/>
              </a:rPr>
              <a:t>The platform analyses student capabilities and identifies relevant skill areas.</a:t>
            </a:r>
          </a:p>
          <a:p>
            <a:r>
              <a:rPr lang="en-US" sz="1400" b="1" dirty="0">
                <a:latin typeface="DM Sans "/>
              </a:rPr>
              <a:t> Match Requirements</a:t>
            </a:r>
            <a:br>
              <a:rPr lang="en-US" sz="1400" dirty="0">
                <a:solidFill>
                  <a:srgbClr val="727272"/>
                </a:solidFill>
                <a:latin typeface="DM Sans "/>
              </a:rPr>
            </a:br>
            <a:r>
              <a:rPr lang="en-US" sz="1400" dirty="0">
                <a:solidFill>
                  <a:srgbClr val="727272"/>
                </a:solidFill>
                <a:latin typeface="DM Sans "/>
              </a:rPr>
              <a:t>Industry requirements are compared with student skill profiles.</a:t>
            </a:r>
          </a:p>
          <a:p>
            <a:r>
              <a:rPr lang="en-US" sz="1400" b="1" dirty="0">
                <a:latin typeface="DM Sans "/>
              </a:rPr>
              <a:t>Recommend Opportunities</a:t>
            </a:r>
            <a:br>
              <a:rPr lang="en-US" sz="1400" dirty="0">
                <a:solidFill>
                  <a:srgbClr val="727272"/>
                </a:solidFill>
                <a:latin typeface="DM Sans "/>
              </a:rPr>
            </a:br>
            <a:r>
              <a:rPr lang="en-US" sz="1400" dirty="0">
                <a:solidFill>
                  <a:srgbClr val="727272"/>
                </a:solidFill>
                <a:latin typeface="DM Sans "/>
              </a:rPr>
              <a:t>Relevant internships, projects and jobs are suggested.</a:t>
            </a:r>
          </a:p>
          <a:p>
            <a:r>
              <a:rPr lang="en-US" sz="1400" b="1" dirty="0">
                <a:latin typeface="DM Sans "/>
              </a:rPr>
              <a:t>Track &amp; Improve</a:t>
            </a:r>
            <a:br>
              <a:rPr lang="en-US" sz="1400" dirty="0">
                <a:solidFill>
                  <a:srgbClr val="727272"/>
                </a:solidFill>
                <a:latin typeface="DM Sans "/>
              </a:rPr>
            </a:br>
            <a:r>
              <a:rPr lang="en-US" sz="1400" dirty="0">
                <a:solidFill>
                  <a:srgbClr val="727272"/>
                </a:solidFill>
                <a:latin typeface="DM Sans "/>
              </a:rPr>
              <a:t>Students can track applications and outcomes while colleges monitor overall progress.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3BB441-7016-FA66-DFB7-D080B0781262}"/>
              </a:ext>
            </a:extLst>
          </p:cNvPr>
          <p:cNvSpPr txBox="1"/>
          <p:nvPr/>
        </p:nvSpPr>
        <p:spPr>
          <a:xfrm>
            <a:off x="1630731" y="5743578"/>
            <a:ext cx="953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Student Profile → Skill Analysis → Smart Matching → Opportunity → Outcome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E9D134F-7C80-14AA-7A38-F0C4AECC4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520" y="143716"/>
            <a:ext cx="1810807" cy="11857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9937644-0A89-502D-7E5E-F0085E959D55}"/>
              </a:ext>
            </a:extLst>
          </p:cNvPr>
          <p:cNvSpPr/>
          <p:nvPr/>
        </p:nvSpPr>
        <p:spPr>
          <a:xfrm>
            <a:off x="3498112" y="228600"/>
            <a:ext cx="5794744" cy="922796"/>
          </a:xfrm>
          <a:prstGeom prst="roundRect">
            <a:avLst/>
          </a:prstGeom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25332" y="125449"/>
            <a:ext cx="7161888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589D64B-C49C-995C-8881-C4B5934B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95" y="1443841"/>
            <a:ext cx="6527653" cy="38825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7469C2-BE81-FDF7-8E2E-70E5463E94C6}"/>
              </a:ext>
            </a:extLst>
          </p:cNvPr>
          <p:cNvSpPr txBox="1"/>
          <p:nvPr/>
        </p:nvSpPr>
        <p:spPr>
          <a:xfrm>
            <a:off x="915352" y="1580237"/>
            <a:ext cx="5180647" cy="430887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r>
              <a:rPr lang="en-IN" sz="2800" b="0" i="0" u="none">
                <a:solidFill>
                  <a:srgbClr val="064E3B"/>
                </a:solidFill>
                <a:latin typeface="Poppins SemiBold"/>
                <a:ea typeface="ＭＳ Ｐゴシック"/>
              </a:rPr>
              <a:t>Technology </a:t>
            </a:r>
            <a:r>
              <a:rPr lang="en-IN" sz="2800">
                <a:solidFill>
                  <a:srgbClr val="064E3B"/>
                </a:solidFill>
                <a:latin typeface="Poppins SemiBold"/>
                <a:ea typeface="ＭＳ Ｐゴシック"/>
              </a:rPr>
              <a:t>to be Used</a:t>
            </a:r>
            <a:endParaRPr lang="en-IN" sz="2800" b="0" i="0" u="none">
              <a:solidFill>
                <a:srgbClr val="064E3B"/>
              </a:solidFill>
              <a:latin typeface="Poppins SemiBold"/>
              <a:ea typeface="ＭＳ Ｐゴシック"/>
            </a:endParaRP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A6498DD0-8007-53F3-6986-7C4FD3D20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89" y="1580237"/>
            <a:ext cx="238125" cy="190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4DAF1F-674E-FEB1-F0F2-84C25A725274}"/>
              </a:ext>
            </a:extLst>
          </p:cNvPr>
          <p:cNvSpPr txBox="1"/>
          <p:nvPr/>
        </p:nvSpPr>
        <p:spPr>
          <a:xfrm>
            <a:off x="1123516" y="2121461"/>
            <a:ext cx="4933950" cy="235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2400" b="0" i="0" u="none" dirty="0">
                <a:solidFill>
                  <a:srgbClr val="0F766E"/>
                </a:solidFill>
                <a:latin typeface="DM Sans SemiBold"/>
              </a:rPr>
              <a:t>Core Technical Stack &amp;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BB440-41FA-D81D-71C1-4D476E7418E0}"/>
              </a:ext>
            </a:extLst>
          </p:cNvPr>
          <p:cNvSpPr txBox="1"/>
          <p:nvPr/>
        </p:nvSpPr>
        <p:spPr>
          <a:xfrm>
            <a:off x="1063317" y="2391583"/>
            <a:ext cx="268143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600" b="1" i="0" u="none" dirty="0">
                <a:solidFill>
                  <a:srgbClr val="0F172A"/>
                </a:solidFill>
                <a:latin typeface="Poppins"/>
              </a:rPr>
              <a:t>Frontend Layer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85A4A-7A95-57F8-EE2F-32256389F61C}"/>
              </a:ext>
            </a:extLst>
          </p:cNvPr>
          <p:cNvSpPr txBox="1"/>
          <p:nvPr/>
        </p:nvSpPr>
        <p:spPr>
          <a:xfrm>
            <a:off x="1286676" y="2707790"/>
            <a:ext cx="1266825" cy="387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400" b="0" i="0" u="none" dirty="0">
                <a:solidFill>
                  <a:srgbClr val="475569"/>
                </a:solidFill>
                <a:latin typeface="DM Sans"/>
              </a:rPr>
              <a:t>HTML, CSS, JavaScript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B0B14-1CFB-4C67-0CA4-2174858A0DBA}"/>
              </a:ext>
            </a:extLst>
          </p:cNvPr>
          <p:cNvSpPr txBox="1"/>
          <p:nvPr/>
        </p:nvSpPr>
        <p:spPr>
          <a:xfrm>
            <a:off x="1034414" y="3198957"/>
            <a:ext cx="271033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b="1" i="0" u="none" dirty="0">
                <a:solidFill>
                  <a:srgbClr val="0F172A"/>
                </a:solidFill>
                <a:latin typeface="Poppins"/>
              </a:rPr>
              <a:t>Backend Framework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5C43D-F563-57FD-CC2F-92D7309B112E}"/>
              </a:ext>
            </a:extLst>
          </p:cNvPr>
          <p:cNvSpPr txBox="1"/>
          <p:nvPr/>
        </p:nvSpPr>
        <p:spPr>
          <a:xfrm>
            <a:off x="1126994" y="3562211"/>
            <a:ext cx="3067934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400" b="0" i="0" u="none" dirty="0">
                <a:solidFill>
                  <a:srgbClr val="475569"/>
                </a:solidFill>
                <a:latin typeface="DM Sans"/>
              </a:rPr>
              <a:t>Python</a:t>
            </a:r>
            <a:r>
              <a:rPr lang="en-US" sz="1400" b="0" i="0" u="none" dirty="0">
                <a:solidFill>
                  <a:srgbClr val="475569"/>
                </a:solidFill>
                <a:latin typeface="DM Sans"/>
              </a:rPr>
              <a:t>(FLASK AND SQL ALCHEMY)</a:t>
            </a:r>
            <a:endParaRPr sz="1400" b="0" i="0" u="none" dirty="0">
              <a:solidFill>
                <a:srgbClr val="475569"/>
              </a:solidFill>
              <a:latin typeface="DM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9DAA76-AA4E-5B75-37E5-ADA0E33786F3}"/>
              </a:ext>
            </a:extLst>
          </p:cNvPr>
          <p:cNvSpPr txBox="1"/>
          <p:nvPr/>
        </p:nvSpPr>
        <p:spPr>
          <a:xfrm>
            <a:off x="1034414" y="3864475"/>
            <a:ext cx="291541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b="1" i="0" u="none" dirty="0">
                <a:solidFill>
                  <a:srgbClr val="0F172A"/>
                </a:solidFill>
                <a:latin typeface="Poppins"/>
              </a:rPr>
              <a:t>Database Layer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A5CDD-755F-7156-22FC-9417C596E3DC}"/>
              </a:ext>
            </a:extLst>
          </p:cNvPr>
          <p:cNvSpPr txBox="1"/>
          <p:nvPr/>
        </p:nvSpPr>
        <p:spPr>
          <a:xfrm>
            <a:off x="1203854" y="4219352"/>
            <a:ext cx="1977580" cy="19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400" b="0" i="0" u="none" dirty="0">
                <a:solidFill>
                  <a:srgbClr val="475569"/>
                </a:solidFill>
                <a:latin typeface="DM Sans"/>
              </a:rPr>
              <a:t>SQLite Database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62643E6F-B5FB-59F1-050B-A231D8CDD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1" y="4479730"/>
            <a:ext cx="6309674" cy="5541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A5C488-7DEF-91CB-222A-305640E2EDA6}"/>
              </a:ext>
            </a:extLst>
          </p:cNvPr>
          <p:cNvSpPr txBox="1"/>
          <p:nvPr/>
        </p:nvSpPr>
        <p:spPr>
          <a:xfrm>
            <a:off x="713943" y="4623890"/>
            <a:ext cx="6205332" cy="402611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i="0" u="none" dirty="0">
                <a:solidFill>
                  <a:srgbClr val="334155"/>
                </a:solidFill>
                <a:latin typeface="DM Sans Medium"/>
              </a:rPr>
              <a:t>Web browser accessible, lightweight, and deployment-ready framework.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3FB328-32B5-B1E4-6221-108D41E0F535}"/>
              </a:ext>
            </a:extLst>
          </p:cNvPr>
          <p:cNvSpPr txBox="1"/>
          <p:nvPr/>
        </p:nvSpPr>
        <p:spPr>
          <a:xfrm>
            <a:off x="7447470" y="1443841"/>
            <a:ext cx="36175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STUDENT              INDUSTRY</a:t>
            </a:r>
          </a:p>
          <a:p>
            <a:r>
              <a:rPr lang="en-IN" dirty="0"/>
              <a:t>────────             ─────────</a:t>
            </a:r>
          </a:p>
          <a:p>
            <a:r>
              <a:rPr lang="en-IN" dirty="0"/>
              <a:t>Python                  </a:t>
            </a:r>
            <a:r>
              <a:rPr lang="en-IN" dirty="0" err="1"/>
              <a:t>Python</a:t>
            </a:r>
            <a:r>
              <a:rPr lang="en-IN" dirty="0"/>
              <a:t> ✓</a:t>
            </a:r>
          </a:p>
          <a:p>
            <a:r>
              <a:rPr lang="en-IN" dirty="0"/>
              <a:t>Flask                      </a:t>
            </a:r>
            <a:r>
              <a:rPr lang="en-IN" dirty="0" err="1"/>
              <a:t>Flask</a:t>
            </a:r>
            <a:r>
              <a:rPr lang="en-IN" dirty="0"/>
              <a:t> ✓</a:t>
            </a:r>
          </a:p>
          <a:p>
            <a:r>
              <a:rPr lang="en-IN" dirty="0"/>
              <a:t>SQL                        </a:t>
            </a:r>
            <a:r>
              <a:rPr lang="en-IN" dirty="0" err="1"/>
              <a:t>SQL</a:t>
            </a:r>
            <a:r>
              <a:rPr lang="en-IN" dirty="0"/>
              <a:t> ✓</a:t>
            </a:r>
          </a:p>
          <a:p>
            <a:r>
              <a:rPr lang="en-IN" dirty="0"/>
              <a:t>UI Design              UI/UX ✓</a:t>
            </a:r>
          </a:p>
          <a:p>
            <a:r>
              <a:rPr lang="en-IN" dirty="0"/>
              <a:t>                               Cloud ✗</a:t>
            </a:r>
          </a:p>
          <a:p>
            <a:r>
              <a:rPr lang="en-IN" dirty="0"/>
              <a:t>       ↓                       ↓</a:t>
            </a:r>
          </a:p>
          <a:p>
            <a:r>
              <a:rPr lang="en-IN" dirty="0"/>
              <a:t>        MATCH ANALYSIS 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    MATCH SCORE</a:t>
            </a:r>
          </a:p>
          <a:p>
            <a:r>
              <a:rPr lang="en-IN" dirty="0"/>
              <a:t>                 80%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Recommended Opportunity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0409EB-6521-E274-A0B8-B020EC8AFEF2}"/>
              </a:ext>
            </a:extLst>
          </p:cNvPr>
          <p:cNvSpPr txBox="1"/>
          <p:nvPr/>
        </p:nvSpPr>
        <p:spPr>
          <a:xfrm>
            <a:off x="2404034" y="5650600"/>
            <a:ext cx="969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SMART MATCHING → BETTER SKILLS → BETTER OPPORTUNITIES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3B6BB3-F0A2-ADFF-A3CD-A3EC54605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0" y="62589"/>
            <a:ext cx="1810807" cy="1185737"/>
          </a:xfrm>
          <a:prstGeom prst="rect">
            <a:avLst/>
          </a:prstGeom>
        </p:spPr>
      </p:pic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C6C87C38-4BE1-67D9-3AB2-B28501D287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43094" y="314068"/>
            <a:ext cx="1960940" cy="80733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7030A0"/>
                </a:solidFill>
                <a:latin typeface="Colonna MT" panose="04020805060202030203" pitchFamily="82" charset="0"/>
              </a:rPr>
              <a:t>Mindmesh</a:t>
            </a:r>
            <a:endParaRPr lang="en-IN" sz="2000" b="1" dirty="0">
              <a:solidFill>
                <a:srgbClr val="7030A0"/>
              </a:solidFill>
              <a:latin typeface="Colonna MT" panose="04020805060202030203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174A0E-339A-975F-289F-0DD1B0CC874A}"/>
              </a:ext>
            </a:extLst>
          </p:cNvPr>
          <p:cNvSpPr/>
          <p:nvPr/>
        </p:nvSpPr>
        <p:spPr>
          <a:xfrm>
            <a:off x="2907463" y="459938"/>
            <a:ext cx="6910017" cy="807334"/>
          </a:xfrm>
          <a:prstGeom prst="rect">
            <a:avLst/>
          </a:prstGeom>
        </p:spPr>
        <p:style>
          <a:lnRef idx="1">
            <a:schemeClr val="accent3"/>
          </a:lnRef>
          <a:fillRef idx="1003">
            <a:schemeClr val="lt2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884346" y="26521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E4859E9-A04A-3779-BF16-6154FCABD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7542"/>
            <a:ext cx="5357812" cy="2641214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1A990E8-4E18-76A3-02E0-E34C79957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132" y="2477541"/>
            <a:ext cx="5357812" cy="2641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B7C938-E3D6-7AEE-E8F4-8A533843F523}"/>
              </a:ext>
            </a:extLst>
          </p:cNvPr>
          <p:cNvSpPr txBox="1"/>
          <p:nvPr/>
        </p:nvSpPr>
        <p:spPr>
          <a:xfrm>
            <a:off x="866775" y="2772816"/>
            <a:ext cx="5005625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766E"/>
                </a:solidFill>
                <a:latin typeface="Poppins SemiBold"/>
              </a:rPr>
              <a:t>Feasibility Highlights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8C405B6-F077-7097-41F1-E9185D0B2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820441"/>
            <a:ext cx="190500" cy="190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F35DC4-2C13-91ED-3EDC-9C85A47DB0DD}"/>
              </a:ext>
            </a:extLst>
          </p:cNvPr>
          <p:cNvSpPr txBox="1"/>
          <p:nvPr/>
        </p:nvSpPr>
        <p:spPr>
          <a:xfrm>
            <a:off x="866775" y="3153816"/>
            <a:ext cx="4767262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Rapid Development: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Built using standardized, open-source web technologies minimizing cost and setup friction.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FB332-5425-2380-8029-ACA96C3B0039}"/>
              </a:ext>
            </a:extLst>
          </p:cNvPr>
          <p:cNvSpPr txBox="1"/>
          <p:nvPr/>
        </p:nvSpPr>
        <p:spPr>
          <a:xfrm>
            <a:off x="866775" y="3740497"/>
            <a:ext cx="4767262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Low Resource Footprint: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Runs smoothly on existing campus infrastructure without expensive hardware prerequisites.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38CEBD-7A4B-23FC-0E3F-CCEDC9FA1D07}"/>
              </a:ext>
            </a:extLst>
          </p:cNvPr>
          <p:cNvSpPr txBox="1"/>
          <p:nvPr/>
        </p:nvSpPr>
        <p:spPr>
          <a:xfrm>
            <a:off x="866775" y="4327177"/>
            <a:ext cx="4767262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Low Maintenance: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Simple architecture allows fast updates, bug fixes, and security patches.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F9B72B-B1E5-7F1B-F19B-4C3B7DF1A03A}"/>
              </a:ext>
            </a:extLst>
          </p:cNvPr>
          <p:cNvSpPr txBox="1"/>
          <p:nvPr/>
        </p:nvSpPr>
        <p:spPr>
          <a:xfrm>
            <a:off x="6557962" y="2772816"/>
            <a:ext cx="5005625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766E"/>
                </a:solidFill>
                <a:latin typeface="Poppins SemiBold"/>
              </a:rPr>
              <a:t>Viability &amp; Growth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6A51C24C-6E0C-819C-51BB-010EC9100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962" y="2820441"/>
            <a:ext cx="190500" cy="190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CD8655-B276-BEB3-691D-BD3AEDE74048}"/>
              </a:ext>
            </a:extLst>
          </p:cNvPr>
          <p:cNvSpPr txBox="1"/>
          <p:nvPr/>
        </p:nvSpPr>
        <p:spPr>
          <a:xfrm>
            <a:off x="6557962" y="3153816"/>
            <a:ext cx="4767262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High Scalability: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Modular design allows straightforward database migration.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D84535-D361-FD72-9B6B-C7508264E3DA}"/>
              </a:ext>
            </a:extLst>
          </p:cNvPr>
          <p:cNvSpPr txBox="1"/>
          <p:nvPr/>
        </p:nvSpPr>
        <p:spPr>
          <a:xfrm>
            <a:off x="6557962" y="3740497"/>
            <a:ext cx="4767262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Institutional Ready: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Easily adaptable by colleges nationwide with minimal onboarding effort.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30C0B-8DC0-0A6B-D2B2-F7D54C65CB51}"/>
              </a:ext>
            </a:extLst>
          </p:cNvPr>
          <p:cNvSpPr txBox="1"/>
          <p:nvPr/>
        </p:nvSpPr>
        <p:spPr>
          <a:xfrm>
            <a:off x="6557962" y="4327177"/>
            <a:ext cx="4767262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Future Expandability: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Ready for AI recommendation engines and automated resume scoring integrations.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132D65-51B3-7B2D-2273-11FAA5AD080E}"/>
              </a:ext>
            </a:extLst>
          </p:cNvPr>
          <p:cNvSpPr txBox="1"/>
          <p:nvPr/>
        </p:nvSpPr>
        <p:spPr>
          <a:xfrm>
            <a:off x="609600" y="1611984"/>
            <a:ext cx="10787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“Built for rapid campus adoption, scalable deployment, and long-term industry collaboration.”</a:t>
            </a:r>
            <a:endParaRPr lang="en-IN" sz="2000" dirty="0">
              <a:solidFill>
                <a:srgbClr val="064E3B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721BB0-88F9-CC9D-A95C-4009F9D61AF0}"/>
              </a:ext>
            </a:extLst>
          </p:cNvPr>
          <p:cNvSpPr txBox="1"/>
          <p:nvPr/>
        </p:nvSpPr>
        <p:spPr>
          <a:xfrm>
            <a:off x="2234151" y="5480398"/>
            <a:ext cx="11018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1 College</a:t>
            </a:r>
            <a:r>
              <a:rPr lang="en-US" sz="2000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→ </a:t>
            </a:r>
            <a:r>
              <a:rPr lang="en-US" sz="2000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10 Colleges</a:t>
            </a:r>
            <a:r>
              <a:rPr lang="en-US" sz="2000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→ </a:t>
            </a:r>
            <a:r>
              <a:rPr lang="en-US" sz="2000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Multi-Campus</a:t>
            </a:r>
            <a:r>
              <a:rPr lang="en-US" sz="2000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→ </a:t>
            </a:r>
            <a:r>
              <a:rPr lang="en-US" sz="2000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🇮🇳 Nationwide</a:t>
            </a:r>
            <a:endParaRPr lang="en-IN" sz="2000" dirty="0">
              <a:solidFill>
                <a:srgbClr val="064E3B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4D4146-2702-15A7-65A1-7AF2E78A09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1411" y="136522"/>
            <a:ext cx="1810807" cy="1185737"/>
          </a:xfrm>
          <a:prstGeom prst="rect">
            <a:avLst/>
          </a:prstGeom>
        </p:spPr>
      </p:pic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DF8F03D8-5ADC-565E-2A15-420200E8DD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3580" y="343373"/>
            <a:ext cx="1960940" cy="80733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7030A0"/>
                </a:solidFill>
                <a:latin typeface="Colonna MT" panose="04020805060202030203" pitchFamily="82" charset="0"/>
              </a:rPr>
              <a:t>Mindmesh</a:t>
            </a:r>
            <a:endParaRPr lang="en-IN" sz="2000" b="1" dirty="0">
              <a:solidFill>
                <a:srgbClr val="7030A0"/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C0708C-C0D9-95E2-5625-E934D499A7D3}"/>
              </a:ext>
            </a:extLst>
          </p:cNvPr>
          <p:cNvSpPr/>
          <p:nvPr/>
        </p:nvSpPr>
        <p:spPr>
          <a:xfrm>
            <a:off x="3296093" y="186070"/>
            <a:ext cx="5524500" cy="678722"/>
          </a:xfrm>
          <a:prstGeom prst="roundRect">
            <a:avLst/>
          </a:prstGeom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A3CB19-A217-1835-55DC-326920D49750}"/>
              </a:ext>
            </a:extLst>
          </p:cNvPr>
          <p:cNvSpPr txBox="1"/>
          <p:nvPr/>
        </p:nvSpPr>
        <p:spPr>
          <a:xfrm>
            <a:off x="4850035" y="918906"/>
            <a:ext cx="2061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1A679-C011-74ED-1258-B1B373FEFD72}"/>
              </a:ext>
            </a:extLst>
          </p:cNvPr>
          <p:cNvSpPr txBox="1"/>
          <p:nvPr/>
        </p:nvSpPr>
        <p:spPr>
          <a:xfrm>
            <a:off x="369481" y="1451676"/>
            <a:ext cx="55245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860"/>
              </a:lnSpc>
              <a:buFont typeface="Arial" panose="020B0604020202020204" pitchFamily="34" charset="0"/>
              <a:buChar char="•"/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Social Impact: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Fosters direct interaction between students, academia, and industry leaders. Empowers students with real-world exposure and practical learning.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35164-BC36-013A-2613-2750EDF517B2}"/>
              </a:ext>
            </a:extLst>
          </p:cNvPr>
          <p:cNvSpPr txBox="1"/>
          <p:nvPr/>
        </p:nvSpPr>
        <p:spPr>
          <a:xfrm>
            <a:off x="369481" y="2195899"/>
            <a:ext cx="55245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860"/>
              </a:lnSpc>
              <a:buFont typeface="Arial" panose="020B0604020202020204" pitchFamily="34" charset="0"/>
              <a:buChar char="•"/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Economic Efficiency: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Drastically reduces search time for internships, slashes talent acquisition costs for AYUSH enterprises, and improves graduate placement rates.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16373-6762-80C2-8DDD-28C88A3F7CFA}"/>
              </a:ext>
            </a:extLst>
          </p:cNvPr>
          <p:cNvSpPr txBox="1"/>
          <p:nvPr/>
        </p:nvSpPr>
        <p:spPr>
          <a:xfrm>
            <a:off x="369480" y="2993956"/>
            <a:ext cx="55245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860"/>
              </a:lnSpc>
              <a:buFont typeface="Arial" panose="020B0604020202020204" pitchFamily="34" charset="0"/>
              <a:buChar char="•"/>
            </a:pPr>
            <a:r>
              <a:rPr sz="1200" b="1" i="0" u="none" dirty="0">
                <a:solidFill>
                  <a:srgbClr val="334155"/>
                </a:solidFill>
                <a:latin typeface="DM Sans"/>
              </a:rPr>
              <a:t>Ecosystem Growth: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Strengthens India's AYUSH ecosystem through structured skill development and standardized industry-academia partnerships.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7258EA80-2FE5-7CF2-4704-6D49CAF3C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270" y="1808534"/>
            <a:ext cx="5355266" cy="43619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12236E-0484-4F3F-A880-39A5100EB1ED}"/>
              </a:ext>
            </a:extLst>
          </p:cNvPr>
          <p:cNvSpPr txBox="1"/>
          <p:nvPr/>
        </p:nvSpPr>
        <p:spPr>
          <a:xfrm>
            <a:off x="311934" y="3787339"/>
            <a:ext cx="50468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STUDENT DISCOVERS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↓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SKILL GAP IDENTIFIED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↓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RIGHT OPPORTUNITY MATCHED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↓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REAL-WORLD EXPOSURE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↓</a:t>
            </a:r>
            <a:br>
              <a:rPr lang="en-US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</a:br>
            <a:r>
              <a:rPr lang="en-US" b="1" dirty="0">
                <a:solidFill>
                  <a:srgbClr val="064E3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CAREER-READY TALENT</a:t>
            </a:r>
            <a:endParaRPr lang="en-IN" dirty="0">
              <a:solidFill>
                <a:srgbClr val="064E3B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3D88B9-A7BD-8702-35F6-97F57989D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401" y="136522"/>
            <a:ext cx="2328601" cy="1262247"/>
          </a:xfrm>
          <a:prstGeom prst="rect">
            <a:avLst/>
          </a:prstGeom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2C5DC8C3-EEE7-86A9-B019-895F40B833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3580" y="343373"/>
            <a:ext cx="1960940" cy="80733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7030A0"/>
                </a:solidFill>
                <a:latin typeface="Colonna MT" panose="04020805060202030203" pitchFamily="82" charset="0"/>
              </a:rPr>
              <a:t>Mindmesh</a:t>
            </a:r>
            <a:endParaRPr lang="en-IN" sz="2000" b="1" dirty="0">
              <a:solidFill>
                <a:srgbClr val="7030A0"/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5E1109-D36A-14D0-C524-CF2836A20B7B}"/>
              </a:ext>
            </a:extLst>
          </p:cNvPr>
          <p:cNvSpPr/>
          <p:nvPr/>
        </p:nvSpPr>
        <p:spPr>
          <a:xfrm>
            <a:off x="2703127" y="507538"/>
            <a:ext cx="6785742" cy="903767"/>
          </a:xfrm>
          <a:prstGeom prst="roundRect">
            <a:avLst/>
          </a:prstGeom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09020" y="291300"/>
            <a:ext cx="8573957" cy="126645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FF1FB8-51D5-118C-713B-81D767C81A18}"/>
              </a:ext>
            </a:extLst>
          </p:cNvPr>
          <p:cNvSpPr txBox="1"/>
          <p:nvPr/>
        </p:nvSpPr>
        <p:spPr>
          <a:xfrm>
            <a:off x="1195193" y="3602933"/>
            <a:ext cx="722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https://www.niti.gov.in/about-us/objectives-and-features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1616B-E3C3-F4AA-B340-FDC044709245}"/>
              </a:ext>
            </a:extLst>
          </p:cNvPr>
          <p:cNvSpPr txBox="1"/>
          <p:nvPr/>
        </p:nvSpPr>
        <p:spPr>
          <a:xfrm>
            <a:off x="1195193" y="2941287"/>
            <a:ext cx="3695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https://www.sih.gov.in/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FB860-FCA0-8CAA-B047-E99C425085D0}"/>
              </a:ext>
            </a:extLst>
          </p:cNvPr>
          <p:cNvSpPr txBox="1"/>
          <p:nvPr/>
        </p:nvSpPr>
        <p:spPr>
          <a:xfrm>
            <a:off x="1195193" y="2279513"/>
            <a:ext cx="4081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https://ayush.gov.in/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8448A-8F96-5A79-F415-35653CB27C1C}"/>
              </a:ext>
            </a:extLst>
          </p:cNvPr>
          <p:cNvSpPr txBox="1"/>
          <p:nvPr/>
        </p:nvSpPr>
        <p:spPr>
          <a:xfrm>
            <a:off x="1255306" y="1810300"/>
            <a:ext cx="106203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0F172A"/>
                </a:solidFill>
                <a:latin typeface="DM Sans"/>
              </a:rPr>
              <a:t>Ministry of Ayush, Govt. of India: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Aligned with the national initiative to digitize, modernize, and promote skilled workforce development across traditional healthcare sectors.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04819-DD30-7B68-0B0A-02211D025927}"/>
              </a:ext>
            </a:extLst>
          </p:cNvPr>
          <p:cNvSpPr txBox="1"/>
          <p:nvPr/>
        </p:nvSpPr>
        <p:spPr>
          <a:xfrm>
            <a:off x="1255306" y="2673797"/>
            <a:ext cx="1062037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0F172A"/>
                </a:solidFill>
                <a:latin typeface="DM Sans"/>
              </a:rPr>
              <a:t>Smart India Hackathon 2026: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Directly addresses Problem Statement ID </a:t>
            </a:r>
            <a:r>
              <a:rPr sz="1200" b="1" i="0" u="none" dirty="0">
                <a:solidFill>
                  <a:srgbClr val="0F172A"/>
                </a:solidFill>
                <a:latin typeface="DM Sans"/>
              </a:rPr>
              <a:t>SIH26044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under the </a:t>
            </a:r>
            <a:r>
              <a:rPr sz="1200" b="0" i="1" u="none" dirty="0">
                <a:solidFill>
                  <a:srgbClr val="334155"/>
                </a:solidFill>
                <a:latin typeface="DM Sans"/>
              </a:rPr>
              <a:t>Smart Automation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software category.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5AB4F-B08A-5E1B-A08E-3E7732569D84}"/>
              </a:ext>
            </a:extLst>
          </p:cNvPr>
          <p:cNvSpPr txBox="1"/>
          <p:nvPr/>
        </p:nvSpPr>
        <p:spPr>
          <a:xfrm>
            <a:off x="1255306" y="3341919"/>
            <a:ext cx="1062037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0F172A"/>
                </a:solidFill>
                <a:latin typeface="DM Sans"/>
              </a:rPr>
              <a:t>NITI Aayog Framework:</a:t>
            </a:r>
            <a:r>
              <a:rPr sz="1200" b="0" i="0" u="none" dirty="0">
                <a:solidFill>
                  <a:srgbClr val="334155"/>
                </a:solidFill>
                <a:latin typeface="DM Sans"/>
              </a:rPr>
              <a:t> Supports national policy goals focusing on industry-relevant education, skill mapping, and enhancing youth employability.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F07C9-EB62-6F64-34C5-7C5388A90616}"/>
              </a:ext>
            </a:extLst>
          </p:cNvPr>
          <p:cNvSpPr txBox="1"/>
          <p:nvPr/>
        </p:nvSpPr>
        <p:spPr>
          <a:xfrm>
            <a:off x="4210066" y="5406299"/>
            <a:ext cx="5949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64E3B"/>
                </a:solidFill>
              </a:rPr>
              <a:t>TIME FOR A DEMO!!!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B126A0-7BD8-7F99-B533-D053D155E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01" y="136523"/>
            <a:ext cx="2328601" cy="1349970"/>
          </a:xfrm>
          <a:prstGeom prst="rect">
            <a:avLst/>
          </a:prstGeom>
        </p:spPr>
      </p:pic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636E19FE-39CF-DFEF-4C51-A34DA40BFA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400057"/>
            <a:ext cx="1960940" cy="80733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7030A0"/>
                </a:solidFill>
                <a:latin typeface="Colonna MT" panose="04020805060202030203" pitchFamily="82" charset="0"/>
              </a:rPr>
              <a:t>Mindmesh</a:t>
            </a:r>
            <a:endParaRPr lang="en-IN" sz="2000" b="1" dirty="0">
              <a:solidFill>
                <a:srgbClr val="7030A0"/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7720</TotalTime>
  <Words>647</Words>
  <Application>Microsoft Office PowerPoint</Application>
  <PresentationFormat>Widescreen</PresentationFormat>
  <Paragraphs>97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ＭＳ Ｐゴシック</vt:lpstr>
      <vt:lpstr>Arial</vt:lpstr>
      <vt:lpstr>Calibri</vt:lpstr>
      <vt:lpstr>Colonna MT</vt:lpstr>
      <vt:lpstr>DM Sans</vt:lpstr>
      <vt:lpstr>DM Sans </vt:lpstr>
      <vt:lpstr>DM Sans Medium</vt:lpstr>
      <vt:lpstr>DM Sans SemiBold</vt:lpstr>
      <vt:lpstr>Garamond</vt:lpstr>
      <vt:lpstr>Poppins</vt:lpstr>
      <vt:lpstr>Poppins SemiBold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narayan</cp:lastModifiedBy>
  <cp:revision>151</cp:revision>
  <dcterms:created xsi:type="dcterms:W3CDTF">2013-12-12T18:46:50Z</dcterms:created>
  <dcterms:modified xsi:type="dcterms:W3CDTF">2026-09-05T06:38:32Z</dcterms:modified>
  <cp:category/>
</cp:coreProperties>
</file>